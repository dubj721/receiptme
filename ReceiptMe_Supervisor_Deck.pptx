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675120" y="1383030"/>
            <a:ext cx="2377440" cy="2377440"/>
          </a:xfrm>
          <a:prstGeom prst="ellipse">
            <a:avLst/>
          </a:prstGeom>
          <a:solidFill>
            <a:srgbClr val="00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23760" y="1657350"/>
            <a:ext cx="1828800" cy="1828800"/>
          </a:xfrm>
          <a:prstGeom prst="ellipse">
            <a:avLst/>
          </a:prstGeom>
          <a:solidFill>
            <a:srgbClr val="03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1931669"/>
            <a:ext cx="1280160" cy="1280160"/>
          </a:xfrm>
          <a:prstGeom prst="ellipse">
            <a:avLst/>
          </a:prstGeom>
          <a:solidFill>
            <a:srgbClr val="06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75320" y="2183130"/>
            <a:ext cx="777240" cy="777240"/>
          </a:xfrm>
          <a:prstGeom prst="ellipse">
            <a:avLst/>
          </a:prstGeom>
          <a:solidFill>
            <a:srgbClr val="09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85632" y="2242566"/>
            <a:ext cx="658368" cy="658368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224256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83C"/>
                </a:solidFill>
                <a:latin typeface="Calibri"/>
              </a:rPr>
              <a:t>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ReceiptMe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D6F2"/>
                </a:solidFill>
                <a:latin typeface="Calibri"/>
              </a:rPr>
              <a:t>Smarter Expense Tracking for Insight Global Employees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88920"/>
            <a:ext cx="3657600" cy="41148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Presented by Jordan Patterson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B5C8"/>
                </a:solidFill>
                <a:latin typeface="Calibri"/>
              </a:rPr>
              <a:t>Insight Global   |   Expense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8412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83C"/>
                </a:solidFill>
                <a:latin typeface="Calibri"/>
              </a:rPr>
              <a:t>Expense tracking today is manual, risky, and reactive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298448"/>
            <a:ext cx="4059936" cy="12984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298448"/>
            <a:ext cx="64008" cy="1298448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2064" y="1444751"/>
            <a:ext cx="475488" cy="475488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444751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83C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89888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83C"/>
                </a:solidFill>
                <a:latin typeface="Calibri"/>
              </a:rPr>
              <a:t>No central home for receipts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73936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Employees juggle photos, emails, texts, and PDFs with no single place to see what's submitted or what's missing.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298448"/>
            <a:ext cx="4059936" cy="12984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298448"/>
            <a:ext cx="64008" cy="1298448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28031" y="1444751"/>
            <a:ext cx="475488" cy="475488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1" y="1444751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83C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1389888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83C"/>
                </a:solidFill>
                <a:latin typeface="Calibri"/>
              </a:rPr>
              <a:t>The 60-day window is invisible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1773936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There's no proactive warning before the deadline. Employees find out they're overdue after the fact — when it's already a problem.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779776"/>
            <a:ext cx="4059936" cy="12984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779776"/>
            <a:ext cx="64008" cy="1298448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2064" y="2926080"/>
            <a:ext cx="475488" cy="475488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9260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83C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871216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83C"/>
                </a:solidFill>
                <a:latin typeface="Calibri"/>
              </a:rPr>
              <a:t>Overdue receipts mean paper 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55264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Receipts past 60 days require a manual paper expense form, filled by hand, with no system supporting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779776"/>
            <a:ext cx="4059936" cy="12984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2779776"/>
            <a:ext cx="64008" cy="1298448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28031" y="2926080"/>
            <a:ext cx="475488" cy="475488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1" y="29260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83C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3248" y="2871216"/>
            <a:ext cx="3172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83C"/>
                </a:solidFill>
                <a:latin typeface="Calibri"/>
              </a:rPr>
              <a:t>No visibility for anyone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3248" y="3255264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There's no way to see what's been submitted, what's pending, or what's at risk — for employees or managers.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 mobile-first app that makes expense tracking automatic, policy-aware, and paperless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07008"/>
            <a:ext cx="2651760" cy="1371600"/>
          </a:xfrm>
          <a:prstGeom prst="rect">
            <a:avLst/>
          </a:prstGeom>
          <a:solidFill>
            <a:srgbClr val="012440"/>
          </a:solidFill>
          <a:ln w="6350">
            <a:solidFill>
              <a:srgbClr val="02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07008"/>
            <a:ext cx="2651760" cy="82296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98448" y="1371600"/>
            <a:ext cx="603504" cy="603504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371600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83C"/>
                </a:solidFill>
                <a:latin typeface="Calibri"/>
              </a:rPr>
              <a:t>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4825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Receipt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22576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B5C8"/>
                </a:solidFill>
                <a:latin typeface="Calibri"/>
              </a:rPr>
              <a:t>Photo, bank screenshot, or manual — AI auto-fills the details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1207008"/>
            <a:ext cx="2651760" cy="1371600"/>
          </a:xfrm>
          <a:prstGeom prst="rect">
            <a:avLst/>
          </a:prstGeom>
          <a:solidFill>
            <a:srgbClr val="012440"/>
          </a:solidFill>
          <a:ln w="6350">
            <a:solidFill>
              <a:srgbClr val="02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82112" y="1207008"/>
            <a:ext cx="2651760" cy="82296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06240" y="1371600"/>
            <a:ext cx="603504" cy="603504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371600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83C"/>
                </a:solidFill>
                <a:latin typeface="Calibri"/>
              </a:rPr>
              <a:t>60D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04825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60-Day Policy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2322576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B5C8"/>
                </a:solidFill>
                <a:latin typeface="Calibri"/>
              </a:rPr>
              <a:t>Automatic overdue detection and flagging built into every step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207008"/>
            <a:ext cx="2651760" cy="1371600"/>
          </a:xfrm>
          <a:prstGeom prst="rect">
            <a:avLst/>
          </a:prstGeom>
          <a:solidFill>
            <a:srgbClr val="012440"/>
          </a:solidFill>
          <a:ln w="6350">
            <a:solidFill>
              <a:srgbClr val="02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1207008"/>
            <a:ext cx="2651760" cy="82296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4031" y="1371600"/>
            <a:ext cx="603504" cy="603504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1" y="1371600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83C"/>
                </a:solidFill>
                <a:latin typeface="Calibri"/>
              </a:rPr>
              <a:t>ARC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04825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Archive &amp; 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322576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B5C8"/>
                </a:solidFill>
                <a:latin typeface="Calibri"/>
              </a:rPr>
              <a:t>Overdue receipts flow into an in-app version of the paper expense 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80360"/>
            <a:ext cx="2651760" cy="1371600"/>
          </a:xfrm>
          <a:prstGeom prst="rect">
            <a:avLst/>
          </a:prstGeom>
          <a:solidFill>
            <a:srgbClr val="012440"/>
          </a:solidFill>
          <a:ln w="6350">
            <a:solidFill>
              <a:srgbClr val="02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880360"/>
            <a:ext cx="2651760" cy="82296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98448" y="3044952"/>
            <a:ext cx="603504" cy="603504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8448" y="3044952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83C"/>
                </a:solidFill>
                <a:latin typeface="Calibri"/>
              </a:rPr>
              <a:t>SIG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72160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E-Signature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995928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B5C8"/>
                </a:solidFill>
                <a:latin typeface="Calibri"/>
              </a:rPr>
              <a:t>Sign and certify your report before exporting — saved for future use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2880360"/>
            <a:ext cx="2651760" cy="1371600"/>
          </a:xfrm>
          <a:prstGeom prst="rect">
            <a:avLst/>
          </a:prstGeom>
          <a:solidFill>
            <a:srgbClr val="012440"/>
          </a:solidFill>
          <a:ln w="6350">
            <a:solidFill>
              <a:srgbClr val="02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82112" y="2880360"/>
            <a:ext cx="2651760" cy="82296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06240" y="3044952"/>
            <a:ext cx="603504" cy="603504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3044952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83C"/>
                </a:solidFill>
                <a:latin typeface="Calibri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73552" y="372160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PDF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3552" y="3995928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B5C8"/>
                </a:solidFill>
                <a:latin typeface="Calibri"/>
              </a:rPr>
              <a:t>One tap: complete paper form + all receipt images in one document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9904" y="2880360"/>
            <a:ext cx="2651760" cy="1371600"/>
          </a:xfrm>
          <a:prstGeom prst="rect">
            <a:avLst/>
          </a:prstGeom>
          <a:solidFill>
            <a:srgbClr val="012440"/>
          </a:solidFill>
          <a:ln w="6350">
            <a:solidFill>
              <a:srgbClr val="02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9904" y="2880360"/>
            <a:ext cx="2651760" cy="82296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114031" y="3044952"/>
            <a:ext cx="603504" cy="603504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4031" y="3044952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83C"/>
                </a:solidFill>
                <a:latin typeface="Calibri"/>
              </a:rPr>
              <a:t>PKT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1344" y="372160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Monthly Packets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344" y="3995928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B5C8"/>
                </a:solidFill>
                <a:latin typeface="Calibri"/>
              </a:rPr>
              <a:t>Active receipts auto-grouped by month and ready to submit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FEATURE 1 OF 5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438912"/>
            <a:ext cx="3968496" cy="4526280"/>
          </a:xfrm>
          <a:prstGeom prst="rect">
            <a:avLst/>
          </a:prstGeom>
          <a:solidFill>
            <a:srgbClr val="F0FBFE"/>
          </a:solidFill>
          <a:ln w="15240">
            <a:solidFill>
              <a:srgbClr val="00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438912"/>
            <a:ext cx="3968496" cy="347472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74519" y="530352"/>
            <a:ext cx="914400" cy="164592"/>
          </a:xfrm>
          <a:prstGeom prst="rect">
            <a:avLst/>
          </a:prstGeom>
          <a:solidFill>
            <a:srgbClr val="01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941832"/>
            <a:ext cx="502920" cy="109728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43000"/>
            <a:ext cx="1645920" cy="109728"/>
          </a:xfrm>
          <a:prstGeom prst="rect">
            <a:avLst/>
          </a:prstGeom>
          <a:solidFill>
            <a:srgbClr val="01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344168"/>
            <a:ext cx="1097280" cy="109728"/>
          </a:xfrm>
          <a:prstGeom prst="rect">
            <a:avLst/>
          </a:prstGeom>
          <a:solidFill>
            <a:srgbClr val="01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" y="1490472"/>
            <a:ext cx="369417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1490472"/>
            <a:ext cx="45720" cy="1005840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187952"/>
            <a:ext cx="37856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[ Screenshot: Source selection screen + receipt form ]</a:t>
            </a:r>
          </a:p>
        </p:txBody>
      </p:sp>
      <p:sp>
        <p:nvSpPr>
          <p:cNvPr id="12" name="Oval 11"/>
          <p:cNvSpPr/>
          <p:nvPr/>
        </p:nvSpPr>
        <p:spPr>
          <a:xfrm>
            <a:off x="4828032" y="475488"/>
            <a:ext cx="420624" cy="420624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47548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83C"/>
                </a:solidFill>
                <a:latin typeface="Calibri"/>
              </a:rPr>
              <a:t>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512064"/>
            <a:ext cx="3410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RECEIPT 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960120"/>
            <a:ext cx="39136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283C"/>
                </a:solidFill>
                <a:latin typeface="Calibri"/>
              </a:rPr>
              <a:t>Three ways to add a receipt — all under a minute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1737360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Employees can log receipts the moment they happen, no matter the format.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2377440"/>
            <a:ext cx="39136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Snap a photo — AI reads vendor, date, and amount automatically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Upload a bank screenshot for transactions without a paper receipt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Type it in manually if needed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Everything flows into the same organized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FEATURE 2 OF 5</a:t>
            </a:r>
          </a:p>
        </p:txBody>
      </p:sp>
      <p:sp>
        <p:nvSpPr>
          <p:cNvPr id="3" name="Rectangle 2"/>
          <p:cNvSpPr/>
          <p:nvPr/>
        </p:nvSpPr>
        <p:spPr>
          <a:xfrm>
            <a:off x="4828032" y="438912"/>
            <a:ext cx="3968496" cy="4526280"/>
          </a:xfrm>
          <a:prstGeom prst="rect">
            <a:avLst/>
          </a:prstGeom>
          <a:solidFill>
            <a:srgbClr val="F0FBFE"/>
          </a:solidFill>
          <a:ln w="15240">
            <a:solidFill>
              <a:srgbClr val="00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28032" y="438912"/>
            <a:ext cx="3968496" cy="347472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55080" y="530352"/>
            <a:ext cx="914400" cy="164592"/>
          </a:xfrm>
          <a:prstGeom prst="rect">
            <a:avLst/>
          </a:prstGeom>
          <a:solidFill>
            <a:srgbClr val="01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92624" y="941832"/>
            <a:ext cx="502920" cy="109728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92624" y="1143000"/>
            <a:ext cx="1645920" cy="109728"/>
          </a:xfrm>
          <a:prstGeom prst="rect">
            <a:avLst/>
          </a:prstGeom>
          <a:solidFill>
            <a:srgbClr val="01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92624" y="1344168"/>
            <a:ext cx="1097280" cy="109728"/>
          </a:xfrm>
          <a:prstGeom prst="rect">
            <a:avLst/>
          </a:prstGeom>
          <a:solidFill>
            <a:srgbClr val="01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65192" y="1490472"/>
            <a:ext cx="369417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65192" y="1490472"/>
            <a:ext cx="45720" cy="1005840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9472" y="4187952"/>
            <a:ext cx="37856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[ Screenshot: Overdue warning + red 'Go to Archive' success screen ]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" y="475488"/>
            <a:ext cx="420624" cy="420624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47548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83C"/>
                </a:solidFill>
                <a:latin typeface="Calibri"/>
              </a:rPr>
              <a:t>60D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512064"/>
            <a:ext cx="3410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60-DAY POLICY 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960120"/>
            <a:ext cx="39136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283C"/>
                </a:solidFill>
                <a:latin typeface="Calibri"/>
              </a:rPr>
              <a:t>The app knows the policy — employees get warned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1737360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Overdue detection is built into every step of the process, not an afterthought.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377440"/>
            <a:ext cx="39136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Flags a receipt immediately when its date is more than 60 days old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Automatically marks the receipt as overdue when saved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Routes it to the Archive tab — not a regular monthly packet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US employees only — Canadian employees are automatically exempt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FEATURE 3 OF 5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438912"/>
            <a:ext cx="3968496" cy="4526280"/>
          </a:xfrm>
          <a:prstGeom prst="rect">
            <a:avLst/>
          </a:prstGeom>
          <a:solidFill>
            <a:srgbClr val="F0FBFE"/>
          </a:solidFill>
          <a:ln w="15240">
            <a:solidFill>
              <a:srgbClr val="00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438912"/>
            <a:ext cx="3968496" cy="347472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74519" y="530352"/>
            <a:ext cx="914400" cy="164592"/>
          </a:xfrm>
          <a:prstGeom prst="rect">
            <a:avLst/>
          </a:prstGeom>
          <a:solidFill>
            <a:srgbClr val="01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941832"/>
            <a:ext cx="502920" cy="109728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43000"/>
            <a:ext cx="1645920" cy="109728"/>
          </a:xfrm>
          <a:prstGeom prst="rect">
            <a:avLst/>
          </a:prstGeom>
          <a:solidFill>
            <a:srgbClr val="01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344168"/>
            <a:ext cx="1097280" cy="109728"/>
          </a:xfrm>
          <a:prstGeom prst="rect">
            <a:avLst/>
          </a:prstGeom>
          <a:solidFill>
            <a:srgbClr val="01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" y="1490472"/>
            <a:ext cx="369417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1490472"/>
            <a:ext cx="45720" cy="1005840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187952"/>
            <a:ext cx="37856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[ Screenshot: Archive tab — navy Form Header + expanded receipt card ]</a:t>
            </a:r>
          </a:p>
        </p:txBody>
      </p:sp>
      <p:sp>
        <p:nvSpPr>
          <p:cNvPr id="12" name="Oval 11"/>
          <p:cNvSpPr/>
          <p:nvPr/>
        </p:nvSpPr>
        <p:spPr>
          <a:xfrm>
            <a:off x="4828032" y="475488"/>
            <a:ext cx="420624" cy="420624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47548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83C"/>
                </a:solidFill>
                <a:latin typeface="Calibri"/>
              </a:rPr>
              <a:t>ARC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512064"/>
            <a:ext cx="3410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ARCHIVE &amp; EXPENSE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960120"/>
            <a:ext cx="39136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283C"/>
                </a:solidFill>
                <a:latin typeface="Calibri"/>
              </a:rPr>
              <a:t>The paper form, built right into the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1737360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Overdue receipts land in the Archive tab, where employees fill the same fields as the IG paper form — without printing anything.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2377440"/>
            <a:ext cx="39136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Pre-populated with receipt data already captured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All 47 Insight Global expense categories built in and searchable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Fields: description, customer, contacts, group size, tip, parking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Progress saves automatically and syncs across mobile and desktop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FEATURE 4 OF 5</a:t>
            </a:r>
          </a:p>
        </p:txBody>
      </p:sp>
      <p:sp>
        <p:nvSpPr>
          <p:cNvPr id="3" name="Rectangle 2"/>
          <p:cNvSpPr/>
          <p:nvPr/>
        </p:nvSpPr>
        <p:spPr>
          <a:xfrm>
            <a:off x="4828032" y="438912"/>
            <a:ext cx="3968496" cy="4526280"/>
          </a:xfrm>
          <a:prstGeom prst="rect">
            <a:avLst/>
          </a:prstGeom>
          <a:solidFill>
            <a:srgbClr val="F0FBFE"/>
          </a:solidFill>
          <a:ln w="15240">
            <a:solidFill>
              <a:srgbClr val="00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28032" y="438912"/>
            <a:ext cx="3968496" cy="347472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55080" y="530352"/>
            <a:ext cx="914400" cy="164592"/>
          </a:xfrm>
          <a:prstGeom prst="rect">
            <a:avLst/>
          </a:prstGeom>
          <a:solidFill>
            <a:srgbClr val="01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92624" y="941832"/>
            <a:ext cx="502920" cy="109728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92624" y="1143000"/>
            <a:ext cx="1645920" cy="109728"/>
          </a:xfrm>
          <a:prstGeom prst="rect">
            <a:avLst/>
          </a:prstGeom>
          <a:solidFill>
            <a:srgbClr val="01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92624" y="1344168"/>
            <a:ext cx="1097280" cy="109728"/>
          </a:xfrm>
          <a:prstGeom prst="rect">
            <a:avLst/>
          </a:prstGeom>
          <a:solidFill>
            <a:srgbClr val="01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65192" y="1490472"/>
            <a:ext cx="369417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65192" y="1490472"/>
            <a:ext cx="45720" cy="1005840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9472" y="4187952"/>
            <a:ext cx="37856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[ Screenshot: Signature modal + exported PDF showing form table ]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" y="475488"/>
            <a:ext cx="420624" cy="420624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47548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83C"/>
                </a:solidFill>
                <a:latin typeface="Calibri"/>
              </a:rPr>
              <a:t>SIG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512064"/>
            <a:ext cx="3410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ELECTRONIC SIGNATURE &amp;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960120"/>
            <a:ext cx="39136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283C"/>
                </a:solidFill>
                <a:latin typeface="Calibri"/>
              </a:rPr>
              <a:t>Sign once, export a complete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1737360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When the form is ready, employees sign electronically and generate a single PDF containing the completed expense form and all receipt images.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377440"/>
            <a:ext cx="39136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Prompted to sign by name before first export — certifies accuracy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Signature is remembered — auto-applied when re-exporting the same batch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PDF includes: IG-branded expense form table + all receipt images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Identical experience on mobile and desktop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FEATURE 5 OF 5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438912"/>
            <a:ext cx="3968496" cy="4526280"/>
          </a:xfrm>
          <a:prstGeom prst="rect">
            <a:avLst/>
          </a:prstGeom>
          <a:solidFill>
            <a:srgbClr val="F0FBFE"/>
          </a:solidFill>
          <a:ln w="15240">
            <a:solidFill>
              <a:srgbClr val="00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438912"/>
            <a:ext cx="3968496" cy="347472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74519" y="530352"/>
            <a:ext cx="914400" cy="164592"/>
          </a:xfrm>
          <a:prstGeom prst="rect">
            <a:avLst/>
          </a:prstGeom>
          <a:solidFill>
            <a:srgbClr val="01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941832"/>
            <a:ext cx="502920" cy="109728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143000"/>
            <a:ext cx="1645920" cy="109728"/>
          </a:xfrm>
          <a:prstGeom prst="rect">
            <a:avLst/>
          </a:prstGeom>
          <a:solidFill>
            <a:srgbClr val="01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344168"/>
            <a:ext cx="1097280" cy="109728"/>
          </a:xfrm>
          <a:prstGeom prst="rect">
            <a:avLst/>
          </a:prstGeom>
          <a:solidFill>
            <a:srgbClr val="01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" y="1490472"/>
            <a:ext cx="369417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1490472"/>
            <a:ext cx="45720" cy="1005840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187952"/>
            <a:ext cx="37856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[ Screenshot: Packets page — monthly packet card ]</a:t>
            </a:r>
          </a:p>
        </p:txBody>
      </p:sp>
      <p:sp>
        <p:nvSpPr>
          <p:cNvPr id="12" name="Oval 11"/>
          <p:cNvSpPr/>
          <p:nvPr/>
        </p:nvSpPr>
        <p:spPr>
          <a:xfrm>
            <a:off x="4828032" y="475488"/>
            <a:ext cx="420624" cy="420624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47548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83C"/>
                </a:solidFill>
                <a:latin typeface="Calibri"/>
              </a:rPr>
              <a:t>PKT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512064"/>
            <a:ext cx="3410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MONTHLY PACKETS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960120"/>
            <a:ext cx="39136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283C"/>
                </a:solidFill>
                <a:latin typeface="Calibri"/>
              </a:rPr>
              <a:t>Active receipts, automatically organized by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1737360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Receipts within the 60-day window are grouped into monthly packets — ready to review and export.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2377440"/>
            <a:ext cx="39136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Packets are created automatically as receipts come in each month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Export as a full PDF: cover page + all receipt images in one file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Overdue receipts are automatically removed and sent to Archive</a:t>
            </a:r>
          </a:p>
          <a:p>
            <a:pPr algn="l">
              <a:spcAft>
                <a:spcPts val="880"/>
              </a:spcAft>
            </a:pPr>
            <a:r>
              <a:rPr sz="900" b="1">
                <a:solidFill>
                  <a:srgbClr val="00D6F2"/>
                </a:solidFill>
                <a:latin typeface="Calibri"/>
              </a:rPr>
              <a:t>&gt;</a:t>
            </a:r>
            <a:r>
              <a:rPr sz="1050">
                <a:solidFill>
                  <a:srgbClr val="00283C"/>
                </a:solidFill>
                <a:latin typeface="Calibri"/>
              </a:rPr>
              <a:t>  Admin view shows submission activity across the whole team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QUESTIONS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 couple of things I'd love your perspective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8229600" cy="1572768"/>
          </a:xfrm>
          <a:prstGeom prst="rect">
            <a:avLst/>
          </a:prstGeom>
          <a:solidFill>
            <a:srgbClr val="012440"/>
          </a:solidFill>
          <a:ln w="6350">
            <a:solidFill>
              <a:srgbClr val="02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82296" cy="1572768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1298448"/>
            <a:ext cx="548640" cy="548640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83C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298448"/>
            <a:ext cx="7178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What's missing or needs a second look?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737360"/>
            <a:ext cx="7178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B5C8"/>
                </a:solidFill>
                <a:latin typeface="Calibri"/>
              </a:rPr>
              <a:t>You know this policy better than anyone. Are there edge cases, compliance gaps, or workflow issues that stand out? Anything employees would push back on?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53512"/>
            <a:ext cx="8229600" cy="1572768"/>
          </a:xfrm>
          <a:prstGeom prst="rect">
            <a:avLst/>
          </a:prstGeom>
          <a:solidFill>
            <a:srgbClr val="012440"/>
          </a:solidFill>
          <a:ln w="6350">
            <a:solidFill>
              <a:srgbClr val="02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953512"/>
            <a:ext cx="82296" cy="1572768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3081528"/>
            <a:ext cx="548640" cy="548640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815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83C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081528"/>
            <a:ext cx="7178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Policy integration — should we involve IT or Cyber first?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520440"/>
            <a:ext cx="7178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B5C8"/>
                </a:solidFill>
                <a:latin typeface="Calibri"/>
              </a:rPr>
              <a:t>Long-term, I'd love to bake Insight Global's expense policy directly into the app. Should we loop in IT or Cybersecurity before going further, to make sure we're building this the right way?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6F2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83C"/>
                </a:solidFill>
                <a:latin typeface="Calibri"/>
              </a:rPr>
              <a:t>How I'd like to move this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98448"/>
            <a:ext cx="2606040" cy="3520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2606040" cy="91440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59" y="1554480"/>
            <a:ext cx="530352" cy="530352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59" y="155448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258568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83C"/>
                </a:solidFill>
                <a:latin typeface="Calibri"/>
              </a:rPr>
              <a:t>Soft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688336"/>
            <a:ext cx="22768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Roll out to 1-2 colleagues in my city. Capture real usage data, genuine feedback, and concrete business use cases over a few weeks.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1298448"/>
            <a:ext cx="2606040" cy="3520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82112" y="1298448"/>
            <a:ext cx="2606040" cy="91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6432" y="1554480"/>
            <a:ext cx="530352" cy="530352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55448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258568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83C"/>
                </a:solidFill>
                <a:latin typeface="Calibri"/>
              </a:rPr>
              <a:t>Check Back In With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2688336"/>
            <a:ext cx="22768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Share what we learned. When would you want to reconnect — after a week, a month? You set the cadence that works for you.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4184" y="1298448"/>
            <a:ext cx="2606040" cy="3520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44184" y="1298448"/>
            <a:ext cx="2606040" cy="91440"/>
          </a:xfrm>
          <a:prstGeom prst="rect">
            <a:avLst/>
          </a:prstGeom>
          <a:solidFill>
            <a:srgbClr val="009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18504" y="1554480"/>
            <a:ext cx="530352" cy="530352"/>
          </a:xfrm>
          <a:prstGeom prst="ellipse">
            <a:avLst/>
          </a:prstGeom>
          <a:solidFill>
            <a:srgbClr val="009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155448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2258568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83C"/>
                </a:solidFill>
                <a:latin typeface="Calibri"/>
              </a:rPr>
              <a:t>Evaluate Broader Rollout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2688336"/>
            <a:ext cx="22768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Based on pilot results, determine if and how to expand. What does the path to looping in upper leadership look like from here?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00283C"/>
                </a:solidFill>
                <a:latin typeface="Calibri"/>
              </a:rPr>
              <a:t>Open question: What would looping in upper leadership look like, and when does it make sense?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1474470"/>
            <a:ext cx="2194560" cy="2194560"/>
          </a:xfrm>
          <a:prstGeom prst="ellipse">
            <a:avLst/>
          </a:prstGeom>
          <a:solidFill>
            <a:srgbClr val="00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06640" y="1748790"/>
            <a:ext cx="1645920" cy="1645920"/>
          </a:xfrm>
          <a:prstGeom prst="ellipse">
            <a:avLst/>
          </a:prstGeom>
          <a:solidFill>
            <a:srgbClr val="03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0" y="2023110"/>
            <a:ext cx="1097280" cy="1097280"/>
          </a:xfrm>
          <a:prstGeom prst="ellipse">
            <a:avLst/>
          </a:prstGeom>
          <a:solidFill>
            <a:srgbClr val="06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2251710"/>
            <a:ext cx="640080" cy="640080"/>
          </a:xfrm>
          <a:prstGeom prst="ellipse">
            <a:avLst/>
          </a:prstGeom>
          <a:solidFill>
            <a:srgbClr val="09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7072" y="2288286"/>
            <a:ext cx="566928" cy="566928"/>
          </a:xfrm>
          <a:prstGeom prst="ellipse">
            <a:avLst/>
          </a:prstGeom>
          <a:solidFill>
            <a:srgbClr val="00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7315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D6F2"/>
                </a:solidFill>
                <a:latin typeface="Calibri"/>
              </a:rPr>
              <a:t>Excited to hear your thoughts and build this the right way together.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27248"/>
            <a:ext cx="3474720" cy="41148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7355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Jordan Patterson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027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thejordanstudios@gmail.com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